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8" r:id="rId19"/>
    <p:sldId id="269" r:id="rId20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27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822960"/>
            <a:ext cx="374904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5806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E-TICARET YAZILIMI — PROJE TEKLIFI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7830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800" kern="0" spc="8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</a:t>
            </a:r>
            <a:endParaRPr lang="en-US" sz="58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800" kern="0" spc="8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İSTANBUL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nesil, markaya özel e-ticaret deneyimi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OpenCart altyapısından; hızlı, ölçeklenebilir ve tamamen size ait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yazılıma geçiş yol haritası ve yatırım teklifi.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2026  ·  Hazırlayan: Mert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neredeyiz?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37944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14300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Hazır tema sınırları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 şablona sıkışıyor; "premium" his tema seviyesinde kalıyor.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43000" y="27523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Sayfa hızı &amp; mobil deneyim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0815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yükü ve eski altyapı; mobilde yavaş açılış, dönüşüm kaybı.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143000" y="3776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Eklenti bağımlılığı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1056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özellik = yeni eklenti, uyumsuzluk riski ve ek lisans maliyeti.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10328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tavanı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1297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URL/şema/hız optimizasyonu OpenCart mimarisinin izin verdiği kadar.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manosistanbul.com tam site denetimi ve kullanıcı gözüyle CRO incelemesi.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00200"/>
            <a:ext cx="4297680" cy="4297680"/>
          </a:xfrm>
          <a:prstGeom prst="rect">
            <a:avLst/>
          </a:prstGeom>
          <a:solidFill>
            <a:srgbClr val="191410"/>
          </a:solidFill>
          <a:ln/>
          <a:effectLst>
            <a:outerShdw blurRad="177800" dist="63500" dir="5400000" algn="bl" rotWithShape="0">
              <a:srgbClr val="19141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58952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— TEK TEK YÖNETILIYOR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9520" y="32186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8952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KATEGORI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45171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OpenCart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89520" y="5138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KIRALIK TEMA + EKLENTI MIMARISI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OpenCart vs. Özel Yazılım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40965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OPENCART (MEVCUT)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BF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 YAZILIM (TEKLİF)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hızı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Eklenti yüküyle ağırlaşır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Web Vitals odaklı, &lt;1 sn hedef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Tasarım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Hazır tema sınırları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Piksel piksel markaya özel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deneyim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Temanın izin verdiği kadar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öncelikli, uygulama hissi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altyapısı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Eklentiyle kısmi çözüm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SSR, şema, otomatik sitemap yerleşik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özellik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Eklenti ara–satın al–uyarla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 geliştirilir, sınırsız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Güvenlik &amp; bakım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Sürüm/eklenti güncelleme riski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Yönetilen altyapı, otomatik ölçekleme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Sahiplik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71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Tema/eklenti lisanslarına bağımlı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9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ve veri %100 markanın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ÖZEL YAZILIM?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başlıkta yatırımın karşılığı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78992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assets/ic-zap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 = Ciro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78992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Yavaş açılan her saniye sepet terkini artırır. Hedef: mobilde 1 saniyenin altında açılış, yeşil Core Web Vitals.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21608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977640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assets/ic-phone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2677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Deneyim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977640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Kemer motifli galeri, canlı sepet, görüntülü randevu — mücevher vitrinine yakışan, uygulama hissinde arayüz.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20256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6876288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assets/ic-trend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677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Dönüşüm (CRO)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876288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Denetimde tespit edilen tüm dönüşüm kayıpları tasarımın içinde çözülür; A/B teste hazır esnek yapı.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518904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9774936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assets/ic-shield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9528" y="22677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74936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&amp; Sahiplik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774936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ve tema lisansı yok; kod, veri ve müşteri tabanı tamamen Manos İstanbul'un mülkiyetinde.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KONSEPTI — HAZIR ÖNIZLEMELER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"Nuruosmaniye Kemeri" tasarım dili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sayfanın interaktif tasarımı hazırlandı ve incelemeye sunuldu: traverten &amp; espresso paleti, altın vurgular, kemer çerçeveli görseller.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4114800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  <a:effectLst>
            <a:outerShdw blurRad="127000" dist="50800" dir="5400000" algn="bl" rotWithShape="0">
              <a:srgbClr val="19141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assets/arch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21408"/>
            <a:ext cx="228600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120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Sayfa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koleksiyonlar, canlı sepet, sayaçlar, SSS, Instagram şeridi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07408" y="1920240"/>
            <a:ext cx="3291840" cy="4114800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  <a:effectLst>
            <a:outerShdw blurRad="127000" dist="50800" dir="5400000" algn="bl" rotWithShape="0">
              <a:srgbClr val="19141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0" name="Image 1" descr="assets/arch-p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121408"/>
            <a:ext cx="2286000" cy="2926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5120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 Detay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36008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&amp; ölçü seçimi, zoom galeri, ölçü rehberi, atölye takvimi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991856" y="1920240"/>
            <a:ext cx="3291840" cy="4114800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  <a:effectLst>
            <a:outerShdw blurRad="127000" dist="50800" dir="5400000" algn="bl" rotWithShape="0">
              <a:srgbClr val="19141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4" name="Image 2" descr="assets/arch-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121408"/>
            <a:ext cx="2286000" cy="2926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0456" y="5120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Sepet &amp; Ödeme Öncesi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0456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notu, promosyon kodu, güven rozetleri, cross-sell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22960" y="61081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ürün fotoğrafları entegrasyon aşamasında yerleştirilecektir.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MIMARI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Modern, kanıtlanmış ve ölçeklenebilir yapı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03504" cy="603504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assets/ic-layers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93395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64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— Vitrin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91640" y="20939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tarafı render (SSR): ışık hızında sayfalar, kusursuz SEO, mobil öncelikli arayüz.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825496"/>
            <a:ext cx="603504" cy="603504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assets/ic-db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297637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8072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— Veri &amp; Üyelik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691640" y="31363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sipariş, üye ve favori verisi; gerçek zamanlı stok, güvenli kimlik doğrulama.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867912"/>
            <a:ext cx="603504" cy="603504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assets/ic-globe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018788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8496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— Altyapı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691640" y="41788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CDN, otomatik ölçekleme, %99,99 erişilebilirlik; sunucu bakımı derdi yok.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910328"/>
            <a:ext cx="603504" cy="603504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3" descr="assets/ic-link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" y="506120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892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Entegrasyonlar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691640" y="52212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iyzico / PayTR ödeme, WhatsApp, GA4 + Meta Pixel hazır yapı.</a:t>
            </a:r>
            <a:endParaRPr lang="en-US" sz="1200" dirty="0"/>
          </a:p>
        </p:txBody>
      </p:sp>
      <p:pic>
        <p:nvPicPr>
          <p:cNvPr id="20" name="Image 4" descr="assets/sq-ch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1783080"/>
            <a:ext cx="3200400" cy="32004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138160" y="5074920"/>
            <a:ext cx="3200400" cy="868680"/>
          </a:xfrm>
          <a:prstGeom prst="rect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5"/>
          <p:cNvSpPr/>
          <p:nvPr/>
        </p:nvSpPr>
        <p:spPr>
          <a:xfrm>
            <a:off x="8275320" y="51755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yapı; yayında olan projelerimizde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kanıtlanmış üretim hattımızdır.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KAPSAMI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Teslim edilecek modüller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87552" y="1975104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assets/ic-layers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031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562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 &amp; Koleksiyon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27632" y="216712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sayfa, kategori/listeleme, filtreleme, arama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36208" y="1737360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0" y="1975104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assets/ic-search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103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562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Altyapısı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216712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SSR, şema işaretleme, hız optimizasyonu, 301 taşıma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2907792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87552" y="3145536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assets/ic-pkg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27355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02666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 Detay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27632" y="33375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&amp; ölçü varyantları, zoom galeri, ölçü rehberi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36208" y="2907792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400800" y="3145536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assets/ic-users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27355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02666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Üyelik &amp; Favoriler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0" y="33375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Kayıt/giriş, sipariş geçmişi, favori listesi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078224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987552" y="4315968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assets/ic-card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443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19709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Sepet &amp; Ödeme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27632" y="450799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iyzico / PayTR, 3D Secure, hediye notu &amp; paketi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36208" y="4078224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6400800" y="4315968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assets/ic-video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444398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419709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Görüntülü Randevu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40880" y="450799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Danışmanlık randevu modülü + WhatsApp hattı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22960" y="5248656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987552" y="5486400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assets/ic-settings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" y="561441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27632" y="536752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Paneli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627632" y="5678424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stok, sipariş, kampanya ve içerik yönetimi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236208" y="5248656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6400800" y="5486400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assets/ic-trend-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614416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536752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&amp; Analitik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7040880" y="5678424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Meta Pixel, dönüşüm hunisi raporları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modüller mobil uyumlu, KVKK ve mesafeli satış mevzuatına uygun teslim edilir.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KAPSAMI — DEVAM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Satışı büyüten ek modüller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87552" y="1975104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assets/ic-layers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1031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562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Kampanya &amp; Kupon Motoru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27632" y="216712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Yüzde/tutar indirim, hediye çeki, dönemsel kampanya kurguları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36208" y="1737360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0" y="1975104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assets/ic-search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103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562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Terk Edilen Sepet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216712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e-posta/WhatsApp hatırlatma; kaybolan sipariş geri kazanılır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2907792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87552" y="3145536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assets/ic-pkg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27355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02666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 Yorumları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27632" y="33375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Fotoğraflı yorum ve yıldız puanı; güçlü sosyal kanıt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36208" y="2907792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400800" y="3145536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assets/ic-users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327355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02666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E-Bülten &amp; CRM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0" y="33375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Segmentli listeler, hoş geldin serisi, özel gün akışları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078224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987552" y="4315968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assets/ic-card-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43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19709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Lookbook &amp; Hikâyeler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27632" y="450799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Editoryal koleksiyon sayfaları, Instagram beslemesi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36208" y="4078224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6400800" y="4315968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assets/ic-video-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44398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419709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Hediye Modülü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40880" y="450799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notu, paket seçimi, dijital hediye kartı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22960" y="5248656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987552" y="5486400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assets/ic-settings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561441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27632" y="536752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Çoklu Dil Hazırlığı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627632" y="5678424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dil altyapısı; yurtdışı satışa hazır yapı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236208" y="5248656"/>
            <a:ext cx="5138928" cy="969264"/>
          </a:xfrm>
          <a:prstGeom prst="rect">
            <a:avLst/>
          </a:prstGeom>
          <a:solidFill>
            <a:srgbClr val="FCF9F3"/>
          </a:solidFill>
          <a:ln w="12700">
            <a:solidFill>
              <a:srgbClr val="E2D9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6400800" y="5486400"/>
            <a:ext cx="493776" cy="493776"/>
          </a:xfrm>
          <a:prstGeom prst="ellipse">
            <a:avLst/>
          </a:prstGeom>
          <a:solidFill>
            <a:srgbClr val="EFE7D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assets/ic-trend-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5614416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536752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Raporlama Paneli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7040880" y="5678424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Ciro, en çok satanlar, dönüşüm hunisi — tek ekranda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modüllerin tamamı 60.000 ₺ teklife dahildir — hazır pakette eklenti eklenti satın alınan her şey, burada yerleşik gelir.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KURGULARI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Siteyle birlikte gelen satış motoru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78992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assets/ic-zap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Alışveriş Karşılaması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78992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ziyaretçiye e-bülten karşılığı hoş geldin ayrıcalığı; ilk sipariş bariyeri zarifçe aşılır, liste büyür.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21608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977640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assets/ic-phon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2677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Gün Hatırlatıcı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977640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Yıldönümü ve doğum günü kayıtları; tarih yaklaşınca kişisel hediye önerisi gider — mücevherde tekrar satışın anahtarı.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20256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6876288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assets/ic-trend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2677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Sadakat Katmanı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876288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Alışveriş geçmişine göre VIP segment; yeni koleksiyona erken erişim, özel davet ve ayrıcalıklar.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518904" y="1783080"/>
            <a:ext cx="2578608" cy="397764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9774936" y="2103120"/>
            <a:ext cx="658368" cy="658368"/>
          </a:xfrm>
          <a:prstGeom prst="ellipse">
            <a:avLst/>
          </a:prstGeom>
          <a:solidFill>
            <a:srgbClr val="191410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assets/ic-shield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528" y="22677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74936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Dönemsel Hediye Rehberi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774936" y="342900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Sevgililer Günü, Anneler Günü, yılbaşı — kampanya sayfası ve kupon kurgusu panelden tek tıkla açılır.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PLANI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haftada canlı yayın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487168"/>
            <a:ext cx="8723376" cy="0"/>
          </a:xfrm>
          <a:prstGeom prst="line">
            <a:avLst/>
          </a:prstGeom>
          <a:noFill/>
          <a:ln w="15875">
            <a:solidFill>
              <a:srgbClr val="AE8342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2103120"/>
            <a:ext cx="768096" cy="768096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Keşif &amp; Tasarım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12464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Tasarımlar bugünden hazır: hızlı onay ve gerçek ürün görselleriyle prototip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03904" y="2103120"/>
            <a:ext cx="768096" cy="768096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803904" y="2121408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30752" y="30632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Geliştirme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730752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2–3. HAFTA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0752" y="3712464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+ panel geliştirme, ödeme entegrasyonu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2103120"/>
            <a:ext cx="768096" cy="768096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711696" y="2121408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38544" y="30632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İçerik &amp; Test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38544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38544" y="3712464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ürünün aktarımı, SEO yönlendirmeleri, uçtan uca sipariş testleri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2103120"/>
            <a:ext cx="768096" cy="768096"/>
          </a:xfrm>
          <a:prstGeom prst="ellipse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619488" y="2121408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46336" y="30632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 &amp; Eğitim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46336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GÜN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46336" y="3712464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Canlıya geçiş, panel eğitimi, 30 gün ücretsiz yakın destek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solidFill>
            <a:srgbClr val="1914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005840" y="565099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 </a:t>
            </a:r>
            <a:r>
              <a:rPr lang="en-US" sz="1200" dirty="0" err="1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</a:t>
            </a:r>
            <a:r>
              <a:rPr lang="en-US" sz="120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yayında kalır; geçiş tek gecede, satış kaybı olmadan tamamlanır.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Fiyat Teklifi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1499" y="1636776"/>
            <a:ext cx="1229588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4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Seferlik : 90</a:t>
            </a:r>
            <a:r>
              <a:rPr lang="en-US" sz="4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 ₺</a:t>
            </a:r>
            <a:r>
              <a:rPr lang="tr-TR" sz="4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br>
              <a:rPr lang="tr-TR" sz="4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tr-TR" sz="4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Dolar Sunucu Aylık 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SEFERLİK · ANAHTAR TESLİM </a:t>
            </a:r>
            <a:r>
              <a:rPr lang="tr-TR" sz="1050" kern="0" spc="3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7–8'deki 16 modülün tamamı ve sayfa tasarımları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OpenCart'tan tam veri &amp; SEO taşıma (145 ürün, 301 yönlendirmeler)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ve verinin %100 mülkiyeti Manos </a:t>
            </a:r>
            <a:r>
              <a:rPr lang="en-US" sz="1250" dirty="0" err="1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İstanbul’da</a:t>
            </a:r>
            <a:r>
              <a:rPr lang="tr-TR" sz="1250" dirty="0"/>
              <a:t> </a:t>
            </a:r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tr-TR" sz="12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Pusula Entegrasyonu</a:t>
            </a:r>
            <a:br>
              <a:rPr lang="tr-TR" sz="12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tr-TR" sz="12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2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büyük geliştirmelerde ücret yansıtılır.</a:t>
            </a:r>
            <a:endParaRPr lang="en-US" sz="1250" b="1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206240" cy="4114800"/>
          </a:xfrm>
          <a:prstGeom prst="rect">
            <a:avLst/>
          </a:prstGeom>
          <a:solidFill>
            <a:srgbClr val="241E18"/>
          </a:solidFill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589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PLANI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5820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&amp; proje başlangıcı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6988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r>
              <a:rPr lang="en-US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.000 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5820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teslimi (test yayını)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69880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tr-TR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.000 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58200" y="37124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Canlıya geçiş &amp; kabul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469880" y="37398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150" b="1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.000 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4398264"/>
            <a:ext cx="3657600" cy="0"/>
          </a:xfrm>
          <a:prstGeom prst="line">
            <a:avLst/>
          </a:prstGeom>
          <a:noFill/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589520" y="4535424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Karşılaştırma: OpenCart tarafında tema + eklenti lisansları ve bakım, yıllık tekrarlayan gider üretir; özel yazılımda bu kalemler sıfırlanır, altyapı gideri yalnızca kullanım bazlıdır.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q-bangle.png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8229600" y="155448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ADIMLAR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Işıltıyı birlikte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kodlayalım.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241E18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22960" y="3483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35112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 onayı ve sözleşme (bu hafta)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241E18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22960" y="41422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41696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ürün görselleriyle tasarım revizyonu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791456"/>
            <a:ext cx="457200" cy="457200"/>
          </a:xfrm>
          <a:prstGeom prst="ellipse">
            <a:avLst/>
          </a:prstGeom>
          <a:solidFill>
            <a:srgbClr val="241E18"/>
          </a:solidFill>
          <a:ln w="12700">
            <a:solidFill>
              <a:srgbClr val="AE834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48280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haftalık takvimle geliştirme başlangıcı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5715000"/>
            <a:ext cx="6583680" cy="0"/>
          </a:xfrm>
          <a:prstGeom prst="line">
            <a:avLst/>
          </a:prstGeom>
          <a:noFill/>
          <a:ln w="12700">
            <a:solidFill>
              <a:srgbClr val="3A2F2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822960" y="5897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 ·  Dijital Proje Yönetimi &amp; Geliştirme  ·  Teklif geçerliliği: </a:t>
            </a:r>
            <a:r>
              <a:rPr lang="tr-TR" sz="1100" kern="0" spc="1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100" kern="0" spc="1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AE8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OpenCart olmamalı?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37944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14300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Sayfa Hızı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açılış 831 ms; Google'ın 200ms hedefinin 4 katı, sepet terkini artırır.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43000" y="27523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Riski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0815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Yılda 6-7 güvenlik açığı raporlanıyor; çoğu eklenti artık desteklenmiyor.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143000" y="3776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Şablon Tavanı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1056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piksel marka kimliği mümkün değil; "premium" his temanın izin verdiği kadar.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10328"/>
            <a:ext cx="128016" cy="128016"/>
          </a:xfrm>
          <a:prstGeom prst="ellipse">
            <a:avLst/>
          </a:prstGeom>
          <a:solidFill>
            <a:srgbClr val="AE834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Büyüme Sınırı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1297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Büyüdükçe eklenti yığını ve lisans maliyeti katlanır; SEO eklentiye bağlı kalır.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LitExtension performans raporu, Stack Watch CVE veritabanı (2026).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00200"/>
            <a:ext cx="4297680" cy="4297680"/>
          </a:xfrm>
          <a:prstGeom prst="rect">
            <a:avLst/>
          </a:prstGeom>
          <a:solidFill>
            <a:srgbClr val="191410"/>
          </a:solidFill>
          <a:ln/>
          <a:effectLst>
            <a:outerShdw blurRad="177800" dist="63500" dir="5400000" algn="bl" rotWithShape="0">
              <a:srgbClr val="19141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58952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831ms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AÇILIŞ SÜRESİ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9520" y="32186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8952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GÜVENLİK AÇIĞI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45171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OpenCart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89520" y="5138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KIRALIK TEMA + EKLENTI MİMARİSİ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7C7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8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C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AÇIK KONUŞALIM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2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OpenCart’ta kalmak elbette mümkün.</a:t>
            </a:r>
            <a:endParaRPr lang="en-US" sz="3000" dirty="0"/>
          </a:p>
        </p:txBody>
      </p:sp>
      <p:sp>
        <p:nvSpPr>
          <p:cNvPr id="30" name="Text 30"/>
          <p:cNvSpPr/>
          <p:nvPr/>
        </p:nvSpPr>
        <p:spPr>
          <a:xfrm>
            <a:off x="822960" y="2194560"/>
            <a:ext cx="1054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tr-TR" sz="1400" dirty="0">
                <a:solidFill>
                  <a:srgbClr val="C8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mevcut altyapıda kalmayı tercih ederse, bu süreci de aynı özenle yönetiriz: tema revizyonu, hız optimizasyonu, güvenlik yamaları ve eklenti bakımı — elimizden geleni yaparız.</a:t>
            </a:r>
            <a:endParaRPr lang="tr-TR" sz="1400" dirty="0"/>
          </a:p>
        </p:txBody>
      </p:sp>
      <p:sp>
        <p:nvSpPr>
          <p:cNvPr id="31" name="Text 31"/>
          <p:cNvSpPr/>
          <p:nvPr/>
        </p:nvSpPr>
        <p:spPr>
          <a:xfrm>
            <a:off x="822960" y="3382008"/>
            <a:ext cx="1054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tr-TR" sz="2400" i="1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 dürüst olalım: kiralık bir tema ve eklenti yığınının üzerine üst segment bir marka inşa edilemez.</a:t>
            </a:r>
            <a:endParaRPr lang="tr-TR" sz="2400" i="1" dirty="0"/>
          </a:p>
        </p:txBody>
      </p:sp>
      <p:sp>
        <p:nvSpPr>
          <p:cNvPr id="32" name="Text 32"/>
          <p:cNvSpPr/>
          <p:nvPr/>
        </p:nvSpPr>
        <p:spPr>
          <a:xfrm>
            <a:off x="822960" y="5074920"/>
            <a:ext cx="1054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tr-TR" sz="1400" dirty="0">
                <a:solidFill>
                  <a:srgbClr val="F2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emek meselesi değil, mimarinin doğasıdır — Manos İstanbul’un hak ettiği vitrin, ancak kendi yazılımıyla mümkündür.</a:t>
            </a:r>
            <a:endParaRPr lang="tr-TR" sz="14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E8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İSTANBUL — ÖZEL E-TİCARET YAZILIMI TEKLİFİ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C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1165</Words>
  <Application>Microsoft Office PowerPoint</Application>
  <PresentationFormat>Geniş ekran</PresentationFormat>
  <Paragraphs>204</Paragraphs>
  <Slides>12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Mert İlker</cp:lastModifiedBy>
  <cp:revision>2</cp:revision>
  <dcterms:created xsi:type="dcterms:W3CDTF">2026-07-27T16:04:37Z</dcterms:created>
  <dcterms:modified xsi:type="dcterms:W3CDTF">2026-07-27T18:53:59Z</dcterms:modified>
</cp:coreProperties>
</file>